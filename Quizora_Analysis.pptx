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dbcf32e-032d-f143-f5e4-dbb2cd1cf214}">
          <p14:sldIdLst>
            <p14:sldId id="256"/>
          </p14:sldIdLst>
        </p14:section>
        <p14:section name="Overview" id="{49d73391-cf60-8c75-3b5f-7d1e40de3a45}">
          <p14:sldIdLst>
            <p14:sldId id="257"/>
            <p14:sldId id="258"/>
          </p14:sldIdLst>
        </p14:section>
        <p14:section name="Overview" id="{840c2b28-5fd6-44fd-aeca-4414e7c92c04}">
          <p14:sldIdLst/>
        </p14:section>
        <p14:section name="Technical" id="{ee74d942-b623-fd1c-7969-609dd90c07a2}">
          <p14:sldIdLst>
            <p14:sldId id="259"/>
            <p14:sldId id="263"/>
          </p14:sldIdLst>
        </p14:section>
        <p14:section name="Product" id="{0b1b8ee9-63c2-eb68-7887-ed8dc1c829f1}">
          <p14:sldIdLst>
            <p14:sldId id="260"/>
            <p14:sldId id="261"/>
            <p14:sldId id="262"/>
          </p14:sldIdLst>
        </p14:section>
        <p14:section name="Product" id="{1a5423b3-7ccb-2050-ca1f-41c7debf9a18}">
          <p14:sldIdLst/>
        </p14:section>
        <p14:section name="Product" id="{3e62f844-f844-329c-5747-d5cb7735f698}">
          <p14:sldIdLst/>
        </p14:section>
        <p14:section name="Technical" id="{7babe43a-d011-96be-fc21-eac4c6d55d53}">
          <p14:sldIdLst/>
        </p14:section>
        <p14:section name="Findings" id="{84b3ff77-594f-d872-8c71-d659d9ef035f}">
          <p14:sldIdLst>
            <p14:sldId id="264"/>
            <p14:sldId id="265"/>
            <p14:sldId id="266"/>
          </p14:sldIdLst>
        </p14:section>
        <p14:section name="Findings" id="{3b57bd44-6679-c562-31ec-72f46bf6d080}">
          <p14:sldIdLst/>
        </p14:section>
        <p14:section name="Findings" id="{d029a4a5-09f6-c9b5-4962-2d5268b7ba41}">
          <p14:sldIdLst/>
        </p14:section>
        <p14:section name="Next steps" id="{d22a9f60-abe2-9cd8-ec12-1ccb4c8ce9c0}">
          <p14:sldIdLst>
            <p14:sldId id="267"/>
          </p14:sldIdLst>
        </p14:section>
        <p14:section name="Close" id="{e96671d5-e152-f92a-2f9f-7cf05722f29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Declared in card</c:v>
                </c:pt>
              </c:strCache>
            </c:strRef>
          </c:tx>
          <c:spPr>
            <a:solidFill>
              <a:srgbClr val="BDB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1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DSA</c:v>
                  </c:pt>
                  <c:pt idx="1">
                    <c:v>Web</c:v>
                  </c:pt>
                  <c:pt idx="2">
                    <c:v>DBMS</c:v>
                  </c:pt>
                  <c:pt idx="3">
                    <c:v>OS</c:v>
                  </c:pt>
                  <c:pt idx="4">
                    <c:v>Math</c:v>
                  </c:pt>
                  <c:pt idx="5">
                    <c:v>GK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10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Actually available</c:v>
                </c:pt>
              </c:strCache>
            </c:strRef>
          </c:tx>
          <c:spPr>
            <a:solidFill>
              <a:srgbClr val="7867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1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DSA</c:v>
                  </c:pt>
                  <c:pt idx="1">
                    <c:v>Web</c:v>
                  </c:pt>
                  <c:pt idx="2">
                    <c:v>DBMS</c:v>
                  </c:pt>
                  <c:pt idx="3">
                    <c:v>OS</c:v>
                  </c:pt>
                  <c:pt idx="4">
                    <c:v>Math</c:v>
                  </c:pt>
                  <c:pt idx="5">
                    <c:v>GK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021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6350" cap="flat">
              <a:solidFill>
                <a:srgbClr val="EC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deck reviews the three source files of the Quizora front-end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0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it"/>
          <p:cNvSpPr/>
          <p:nvPr/>
        </p:nvSpPr>
        <p:spPr>
          <a:xfrm>
            <a:off x="5760720" y="365760"/>
            <a:ext cx="3840480" cy="3840480"/>
          </a:xfrm>
          <a:prstGeom prst="ellipse">
            <a:avLst/>
          </a:prstGeom>
          <a:solidFill>
            <a:srgbClr val="20213A">
              <a:alpha val="0"/>
            </a:srgbClr>
          </a:solidFill>
          <a:ln w="15875">
            <a:solidFill>
              <a:srgbClr val="7867EE"/>
            </a:solidFill>
            <a:prstDash val="solid"/>
          </a:ln>
        </p:spPr>
      </p:sp>
      <p:sp>
        <p:nvSpPr>
          <p:cNvPr id="3" name="Orbit"/>
          <p:cNvSpPr/>
          <p:nvPr/>
        </p:nvSpPr>
        <p:spPr>
          <a:xfrm>
            <a:off x="6309360" y="914400"/>
            <a:ext cx="2743200" cy="2743200"/>
          </a:xfrm>
          <a:prstGeom prst="ellipse">
            <a:avLst/>
          </a:prstGeom>
          <a:solidFill>
            <a:srgbClr val="20213A">
              <a:alpha val="0"/>
            </a:srgbClr>
          </a:solidFill>
          <a:ln w="15875">
            <a:solidFill>
              <a:srgbClr val="7867EE"/>
            </a:solidFill>
            <a:prstDash val="solid"/>
          </a:ln>
        </p:spPr>
      </p:sp>
      <p:sp>
        <p:nvSpPr>
          <p:cNvPr id="4" name="Orbit"/>
          <p:cNvSpPr/>
          <p:nvPr/>
        </p:nvSpPr>
        <p:spPr>
          <a:xfrm>
            <a:off x="6858000" y="1463040"/>
            <a:ext cx="1645920" cy="1645920"/>
          </a:xfrm>
          <a:prstGeom prst="ellipse">
            <a:avLst/>
          </a:prstGeom>
          <a:solidFill>
            <a:srgbClr val="20213A">
              <a:alpha val="0"/>
            </a:srgbClr>
          </a:solidFill>
          <a:ln w="15875">
            <a:solidFill>
              <a:srgbClr val="7867EE"/>
            </a:solidFill>
            <a:prstDash val="solid"/>
          </a:ln>
        </p:spPr>
      </p:sp>
      <p:sp>
        <p:nvSpPr>
          <p:cNvPr id="5" name="Logo tile"/>
          <p:cNvSpPr/>
          <p:nvPr/>
        </p:nvSpPr>
        <p:spPr>
          <a:xfrm rot="-720000">
            <a:off x="7086600" y="1691640"/>
            <a:ext cx="1188720" cy="1188720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1691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q.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PROJECT ANALYSIS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Quizora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BFF"/>
                </a:solidFill>
              </a:rPr>
              <a:t>A learning, practice and quiz platform — what is built, how it works, and what to do next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A5BC"/>
                </a:solidFill>
              </a:rPr>
              <a:t>Review of index.html · styles.css · script.js   |   28 October 2026</a:t>
            </a:r>
            <a:endParaRPr lang="en-US" sz="11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tat card"/>
          <p:cNvSpPr/>
          <p:nvPr/>
        </p:nvSpPr>
        <p:spPr>
          <a:xfrm>
            <a:off x="457200" y="1234440"/>
            <a:ext cx="1892808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89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source files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9572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0A4"/>
                </a:solidFill>
              </a:rPr>
              <a:t>No build step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2532888" y="1234440"/>
            <a:ext cx="1892808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32888" y="1325880"/>
            <a:ext cx="189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 views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39572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0A4"/>
                </a:solidFill>
              </a:rPr>
              <a:t>One shell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4608576" y="1234440"/>
            <a:ext cx="1892808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08576" y="1325880"/>
            <a:ext cx="189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questions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239572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0A4"/>
                </a:solidFill>
              </a:rPr>
              <a:t>6 quizzes × 3</a:t>
            </a:r>
            <a:endParaRPr lang="en-US" sz="1200" dirty="0"/>
          </a:p>
        </p:txBody>
      </p:sp>
      <p:sp>
        <p:nvSpPr>
          <p:cNvPr id="15" name="Stat card"/>
          <p:cNvSpPr/>
          <p:nvPr/>
        </p:nvSpPr>
        <p:spPr>
          <a:xfrm>
            <a:off x="6684264" y="1234440"/>
            <a:ext cx="1892808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84264" y="1325880"/>
            <a:ext cx="189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684264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dependencies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84264" y="239572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0A4"/>
                </a:solidFill>
              </a:rPr>
              <a:t>Vanilla JS</a:t>
            </a:r>
            <a:endParaRPr lang="en-US" sz="1200" dirty="0"/>
          </a:p>
        </p:txBody>
      </p:sp>
      <p:sp>
        <p:nvSpPr>
          <p:cNvPr id="19" name="Verdict panel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Verdict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5204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polished, dependency-free front-end prototype with a working quiz loop. The interface is production-grade; the content, data and backend behind it are still placeholders.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Quizora is</a:t>
            </a:r>
            <a:endParaRPr lang="en-US" sz="3000" dirty="0"/>
          </a:p>
        </p:txBody>
      </p:sp>
      <p:sp>
        <p:nvSpPr>
          <p:cNvPr id="3" name="Row marker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72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670"/>
                </a:solidFill>
              </a:rPr>
              <a:t>A space to learn, practice and play — daily challenges, topic quizzes, streaks and XP.</a:t>
            </a:r>
            <a:endParaRPr lang="en-US" sz="1400" dirty="0"/>
          </a:p>
        </p:txBody>
      </p:sp>
      <p:sp>
        <p:nvSpPr>
          <p:cNvPr id="7" name="Row marker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24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670"/>
                </a:solidFill>
              </a:rPr>
              <a:t>Students (the demo profile is a B.Tech learner) plus creators who publish quizzes.</a:t>
            </a:r>
            <a:endParaRPr lang="en-US" sz="1400" dirty="0"/>
          </a:p>
        </p:txBody>
      </p:sp>
      <p:sp>
        <p:nvSpPr>
          <p:cNvPr id="11" name="Row marker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364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7588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670"/>
                </a:solidFill>
              </a:rPr>
              <a:t>Interactive prototype. Progress lives in the browser only; no accounts or server.</a:t>
            </a:r>
            <a:endParaRPr lang="en-US" sz="1400" dirty="0"/>
          </a:p>
        </p:txBody>
      </p:sp>
      <p:sp>
        <p:nvSpPr>
          <p:cNvPr id="15" name="Stack card"/>
          <p:cNvSpPr/>
          <p:nvPr/>
        </p:nvSpPr>
        <p:spPr>
          <a:xfrm>
            <a:off x="4937760" y="1280160"/>
            <a:ext cx="37490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208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7" name="Chip"/>
          <p:cNvSpPr/>
          <p:nvPr/>
        </p:nvSpPr>
        <p:spPr>
          <a:xfrm>
            <a:off x="5212080" y="1920240"/>
            <a:ext cx="114300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9202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HTML5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1920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Semantic shell, ARIA labels</a:t>
            </a:r>
            <a:endParaRPr lang="en-US" sz="1200" dirty="0"/>
          </a:p>
        </p:txBody>
      </p:sp>
      <p:sp>
        <p:nvSpPr>
          <p:cNvPr id="20" name="Chip"/>
          <p:cNvSpPr/>
          <p:nvPr/>
        </p:nvSpPr>
        <p:spPr>
          <a:xfrm>
            <a:off x="5212080" y="2395728"/>
            <a:ext cx="114300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23957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CSS3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395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Custom properties, grid, 3 breakpoints</a:t>
            </a:r>
            <a:endParaRPr lang="en-US" sz="1200" dirty="0"/>
          </a:p>
        </p:txBody>
      </p:sp>
      <p:sp>
        <p:nvSpPr>
          <p:cNvPr id="23" name="Chip"/>
          <p:cNvSpPr/>
          <p:nvPr/>
        </p:nvSpPr>
        <p:spPr>
          <a:xfrm>
            <a:off x="5212080" y="2871216"/>
            <a:ext cx="114300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28712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Vanilla JS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8712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Template-string rendering</a:t>
            </a:r>
            <a:endParaRPr lang="en-US" sz="1200" dirty="0"/>
          </a:p>
        </p:txBody>
      </p:sp>
      <p:sp>
        <p:nvSpPr>
          <p:cNvPr id="26" name="Chip"/>
          <p:cNvSpPr/>
          <p:nvPr/>
        </p:nvSpPr>
        <p:spPr>
          <a:xfrm>
            <a:off x="5212080" y="3346704"/>
            <a:ext cx="114300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12080" y="33467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Fonts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3467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Manrope + DM Sans</a:t>
            </a:r>
            <a:endParaRPr lang="en-US" sz="1200" dirty="0"/>
          </a:p>
        </p:txBody>
      </p:sp>
      <p:sp>
        <p:nvSpPr>
          <p:cNvPr id="29" name="Chip"/>
          <p:cNvSpPr/>
          <p:nvPr/>
        </p:nvSpPr>
        <p:spPr>
          <a:xfrm>
            <a:off x="5212080" y="3822192"/>
            <a:ext cx="1143000" cy="347472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12080" y="38221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Storage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8221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localStorage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File card"/>
          <p:cNvSpPr/>
          <p:nvPr/>
        </p:nvSpPr>
        <p:spPr>
          <a:xfrm>
            <a:off x="45720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4" name="File marker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44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105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Static shell: sidebar, topbar, full dashboard markup, empty view container, modal and toast layers</a:t>
            </a:r>
            <a:endParaRPr lang="en-US" sz="1200" dirty="0"/>
          </a:p>
        </p:txBody>
      </p:sp>
      <p:sp>
        <p:nvSpPr>
          <p:cNvPr id="8" name="File card"/>
          <p:cNvSpPr/>
          <p:nvPr/>
        </p:nvSpPr>
        <p:spPr>
          <a:xfrm>
            <a:off x="324612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9" name="File marker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44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styles.css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105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Design tokens, layout, components, modal styles and responsive rules</a:t>
            </a:r>
            <a:endParaRPr lang="en-US" sz="1200" dirty="0"/>
          </a:p>
        </p:txBody>
      </p:sp>
      <p:sp>
        <p:nvSpPr>
          <p:cNvPr id="13" name="File card"/>
          <p:cNvSpPr/>
          <p:nvPr/>
        </p:nvSpPr>
        <p:spPr>
          <a:xfrm>
            <a:off x="6035040" y="11887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4" name="File marker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44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script.js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1051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All data, view templates, quiz engine and event handling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Inside script.js</a:t>
            </a:r>
            <a:endParaRPr lang="en-US" sz="1200" dirty="0"/>
          </a:p>
        </p:txBody>
      </p:sp>
      <p:sp>
        <p:nvSpPr>
          <p:cNvPr id="19" name="Layer box"/>
          <p:cNvSpPr/>
          <p:nvPr/>
        </p:nvSpPr>
        <p:spPr>
          <a:xfrm>
            <a:off x="457200" y="3200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0213A"/>
          </a:solidFill>
          <a:ln w="12700">
            <a:solidFill>
              <a:srgbClr val="2021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BFF"/>
                </a:solidFill>
              </a:rPr>
              <a:t>quizData · questionSets · savedQuizzes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611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Layer box"/>
          <p:cNvSpPr/>
          <p:nvPr/>
        </p:nvSpPr>
        <p:spPr>
          <a:xfrm>
            <a:off x="3246120" y="3200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0213A"/>
          </a:solidFill>
          <a:ln w="12700">
            <a:solidFill>
              <a:srgbClr val="2021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layer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BFF"/>
                </a:solidFill>
              </a:rPr>
              <a:t>renderQuizCards · viewTemplates · setView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3611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Layer box"/>
          <p:cNvSpPr/>
          <p:nvPr/>
        </p:nvSpPr>
        <p:spPr>
          <a:xfrm>
            <a:off x="6035040" y="3200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0213A"/>
          </a:solidFill>
          <a:ln w="12700">
            <a:solidFill>
              <a:srgbClr val="2021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layer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BFF"/>
                </a:solidFill>
              </a:rPr>
              <a:t>One delegated click / input / submit / key listener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views, one shell</a:t>
            </a:r>
            <a:endParaRPr lang="en-US" sz="3000" dirty="0"/>
          </a:p>
        </p:txBody>
      </p:sp>
      <p:sp>
        <p:nvSpPr>
          <p:cNvPr id="3" name="View card"/>
          <p:cNvSpPr/>
          <p:nvPr/>
        </p:nvSpPr>
        <p:spPr>
          <a:xfrm>
            <a:off x="457200" y="1234440"/>
            <a:ext cx="1892808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92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670"/>
                </a:solidFill>
              </a:rPr>
              <a:t>Stats, hero, picks, chart</a:t>
            </a:r>
            <a:endParaRPr lang="en-US" sz="1100" dirty="0"/>
          </a:p>
        </p:txBody>
      </p:sp>
      <p:sp>
        <p:nvSpPr>
          <p:cNvPr id="6" name="Status chip"/>
          <p:cNvSpPr/>
          <p:nvPr/>
        </p:nvSpPr>
        <p:spPr>
          <a:xfrm>
            <a:off x="594360" y="2286000"/>
            <a:ext cx="822960" cy="237744"/>
          </a:xfrm>
          <a:prstGeom prst="roundRect">
            <a:avLst>
              <a:gd name="adj" fmla="val 230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860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Working</a:t>
            </a:r>
            <a:endParaRPr lang="en-US" sz="1000" dirty="0"/>
          </a:p>
        </p:txBody>
      </p:sp>
      <p:sp>
        <p:nvSpPr>
          <p:cNvPr id="8" name="View card"/>
          <p:cNvSpPr/>
          <p:nvPr/>
        </p:nvSpPr>
        <p:spPr>
          <a:xfrm>
            <a:off x="2532888" y="1234440"/>
            <a:ext cx="1892808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70048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quizzes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1892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670"/>
                </a:solidFill>
              </a:rPr>
              <a:t>Filters, search, bookmarks</a:t>
            </a:r>
            <a:endParaRPr lang="en-US" sz="1100" dirty="0"/>
          </a:p>
        </p:txBody>
      </p:sp>
      <p:sp>
        <p:nvSpPr>
          <p:cNvPr id="11" name="Status chip"/>
          <p:cNvSpPr/>
          <p:nvPr/>
        </p:nvSpPr>
        <p:spPr>
          <a:xfrm>
            <a:off x="2670048" y="2286000"/>
            <a:ext cx="822960" cy="237744"/>
          </a:xfrm>
          <a:prstGeom prst="roundRect">
            <a:avLst>
              <a:gd name="adj" fmla="val 230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22860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Working</a:t>
            </a:r>
            <a:endParaRPr lang="en-US" sz="1000" dirty="0"/>
          </a:p>
        </p:txBody>
      </p:sp>
      <p:sp>
        <p:nvSpPr>
          <p:cNvPr id="13" name="View card"/>
          <p:cNvSpPr/>
          <p:nvPr/>
        </p:nvSpPr>
        <p:spPr>
          <a:xfrm>
            <a:off x="4608576" y="1234440"/>
            <a:ext cx="1892808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45736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learning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1892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670"/>
                </a:solidFill>
              </a:rPr>
              <a:t>Saved quizzes, roadmap</a:t>
            </a:r>
            <a:endParaRPr lang="en-US" sz="1100" dirty="0"/>
          </a:p>
        </p:txBody>
      </p:sp>
      <p:sp>
        <p:nvSpPr>
          <p:cNvPr id="16" name="Status chip"/>
          <p:cNvSpPr/>
          <p:nvPr/>
        </p:nvSpPr>
        <p:spPr>
          <a:xfrm>
            <a:off x="4745736" y="2286000"/>
            <a:ext cx="822960" cy="237744"/>
          </a:xfrm>
          <a:prstGeom prst="roundRect">
            <a:avLst>
              <a:gd name="adj" fmla="val 2307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45736" y="22860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Partial</a:t>
            </a:r>
            <a:endParaRPr lang="en-US" sz="1000" dirty="0"/>
          </a:p>
        </p:txBody>
      </p:sp>
      <p:sp>
        <p:nvSpPr>
          <p:cNvPr id="18" name="View card"/>
          <p:cNvSpPr/>
          <p:nvPr/>
        </p:nvSpPr>
        <p:spPr>
          <a:xfrm>
            <a:off x="6684264" y="1234440"/>
            <a:ext cx="1892808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21424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Leaderboard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1892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670"/>
                </a:solidFill>
              </a:rPr>
              <a:t>Hardcoded rankings</a:t>
            </a:r>
            <a:endParaRPr lang="en-US" sz="1100" dirty="0"/>
          </a:p>
        </p:txBody>
      </p:sp>
      <p:sp>
        <p:nvSpPr>
          <p:cNvPr id="21" name="Status chip"/>
          <p:cNvSpPr/>
          <p:nvPr/>
        </p:nvSpPr>
        <p:spPr>
          <a:xfrm>
            <a:off x="6821424" y="2286000"/>
            <a:ext cx="822960" cy="237744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21424" y="22860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Static</a:t>
            </a:r>
            <a:endParaRPr lang="en-US" sz="1000" dirty="0"/>
          </a:p>
        </p:txBody>
      </p:sp>
      <p:sp>
        <p:nvSpPr>
          <p:cNvPr id="23" name="View card"/>
          <p:cNvSpPr/>
          <p:nvPr/>
        </p:nvSpPr>
        <p:spPr>
          <a:xfrm>
            <a:off x="457200" y="2834640"/>
            <a:ext cx="1892808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9436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rooms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4930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670"/>
                </a:solidFill>
              </a:rPr>
              <a:t>Join / create show toasts</a:t>
            </a:r>
            <a:endParaRPr lang="en-US" sz="1100" dirty="0"/>
          </a:p>
        </p:txBody>
      </p:sp>
      <p:sp>
        <p:nvSpPr>
          <p:cNvPr id="26" name="Status chip"/>
          <p:cNvSpPr/>
          <p:nvPr/>
        </p:nvSpPr>
        <p:spPr>
          <a:xfrm>
            <a:off x="594360" y="3886200"/>
            <a:ext cx="822960" cy="237744"/>
          </a:xfrm>
          <a:prstGeom prst="roundRect">
            <a:avLst>
              <a:gd name="adj" fmla="val 230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886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Mock</a:t>
            </a:r>
            <a:endParaRPr lang="en-US" sz="1000" dirty="0"/>
          </a:p>
        </p:txBody>
      </p:sp>
      <p:sp>
        <p:nvSpPr>
          <p:cNvPr id="28" name="View card"/>
          <p:cNvSpPr/>
          <p:nvPr/>
        </p:nvSpPr>
        <p:spPr>
          <a:xfrm>
            <a:off x="2532888" y="2834640"/>
            <a:ext cx="1892808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670048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buddy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670048" y="34930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670"/>
                </a:solidFill>
              </a:rPr>
              <a:t>Form only; no generation</a:t>
            </a:r>
            <a:endParaRPr lang="en-US" sz="1100" dirty="0"/>
          </a:p>
        </p:txBody>
      </p:sp>
      <p:sp>
        <p:nvSpPr>
          <p:cNvPr id="31" name="Status chip"/>
          <p:cNvSpPr/>
          <p:nvPr/>
        </p:nvSpPr>
        <p:spPr>
          <a:xfrm>
            <a:off x="2670048" y="3886200"/>
            <a:ext cx="822960" cy="237744"/>
          </a:xfrm>
          <a:prstGeom prst="roundRect">
            <a:avLst>
              <a:gd name="adj" fmla="val 230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70048" y="3886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Mock</a:t>
            </a:r>
            <a:endParaRPr lang="en-US" sz="1000" dirty="0"/>
          </a:p>
        </p:txBody>
      </p:sp>
      <p:sp>
        <p:nvSpPr>
          <p:cNvPr id="33" name="View card"/>
          <p:cNvSpPr/>
          <p:nvPr/>
        </p:nvSpPr>
        <p:spPr>
          <a:xfrm>
            <a:off x="4608576" y="2834640"/>
            <a:ext cx="1892808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745736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 studio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745736" y="34930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670"/>
                </a:solidFill>
              </a:rPr>
              <a:t>Forms, no persistence</a:t>
            </a:r>
            <a:endParaRPr lang="en-US" sz="1100" dirty="0"/>
          </a:p>
        </p:txBody>
      </p:sp>
      <p:sp>
        <p:nvSpPr>
          <p:cNvPr id="36" name="Status chip"/>
          <p:cNvSpPr/>
          <p:nvPr/>
        </p:nvSpPr>
        <p:spPr>
          <a:xfrm>
            <a:off x="4745736" y="3886200"/>
            <a:ext cx="822960" cy="237744"/>
          </a:xfrm>
          <a:prstGeom prst="roundRect">
            <a:avLst>
              <a:gd name="adj" fmla="val 230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45736" y="3886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Mock</a:t>
            </a:r>
            <a:endParaRPr lang="en-US" sz="1000" dirty="0"/>
          </a:p>
        </p:txBody>
      </p:sp>
      <p:sp>
        <p:nvSpPr>
          <p:cNvPr id="38" name="View card"/>
          <p:cNvSpPr/>
          <p:nvPr/>
        </p:nvSpPr>
        <p:spPr>
          <a:xfrm>
            <a:off x="6684264" y="2834640"/>
            <a:ext cx="1892808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821424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21424" y="34930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670"/>
                </a:solidFill>
              </a:rPr>
              <a:t>Toggles, profile form</a:t>
            </a:r>
            <a:endParaRPr lang="en-US" sz="1100" dirty="0"/>
          </a:p>
        </p:txBody>
      </p:sp>
      <p:sp>
        <p:nvSpPr>
          <p:cNvPr id="41" name="Status chip"/>
          <p:cNvSpPr/>
          <p:nvPr/>
        </p:nvSpPr>
        <p:spPr>
          <a:xfrm>
            <a:off x="6821424" y="3886200"/>
            <a:ext cx="822960" cy="237744"/>
          </a:xfrm>
          <a:prstGeom prst="roundRect">
            <a:avLst>
              <a:gd name="adj" fmla="val 2307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21424" y="3886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Partial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0A4"/>
                </a:solidFill>
              </a:rPr>
              <a:t>2 views fully working · 2 partial · 1 static · 3 mocked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anatomy</a:t>
            </a:r>
            <a:endParaRPr lang="en-US" sz="3000" dirty="0"/>
          </a:p>
        </p:txBody>
      </p:sp>
      <p:sp>
        <p:nvSpPr>
          <p:cNvPr id="3" name="List marker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188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Welcome row with streak button</a:t>
            </a:r>
            <a:endParaRPr lang="en-US" sz="1400" dirty="0"/>
          </a:p>
        </p:txBody>
      </p:sp>
      <p:sp>
        <p:nvSpPr>
          <p:cNvPr id="6" name="List marker"/>
          <p:cNvSpPr/>
          <p:nvPr/>
        </p:nvSpPr>
        <p:spPr>
          <a:xfrm>
            <a:off x="457200" y="16642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642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Hero banner: daily challenge</a:t>
            </a:r>
            <a:endParaRPr lang="en-US" sz="1400" dirty="0"/>
          </a:p>
        </p:txBody>
      </p:sp>
      <p:sp>
        <p:nvSpPr>
          <p:cNvPr id="9" name="List marker"/>
          <p:cNvSpPr/>
          <p:nvPr/>
        </p:nvSpPr>
        <p:spPr>
          <a:xfrm>
            <a:off x="457200" y="213969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396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stat cards</a:t>
            </a:r>
            <a:endParaRPr lang="en-US" sz="1400" dirty="0"/>
          </a:p>
        </p:txBody>
      </p:sp>
      <p:sp>
        <p:nvSpPr>
          <p:cNvPr id="12" name="List marker"/>
          <p:cNvSpPr/>
          <p:nvPr/>
        </p:nvSpPr>
        <p:spPr>
          <a:xfrm>
            <a:off x="457200" y="26151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6151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Continue-learning card</a:t>
            </a:r>
            <a:endParaRPr lang="en-US" sz="1400" dirty="0"/>
          </a:p>
        </p:txBody>
      </p:sp>
      <p:sp>
        <p:nvSpPr>
          <p:cNvPr id="15" name="List marker"/>
          <p:cNvSpPr/>
          <p:nvPr/>
        </p:nvSpPr>
        <p:spPr>
          <a:xfrm>
            <a:off x="457200" y="30906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0906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Filterable quiz recommendations</a:t>
            </a:r>
            <a:endParaRPr lang="en-US" sz="1400" dirty="0"/>
          </a:p>
        </p:txBody>
      </p:sp>
      <p:sp>
        <p:nvSpPr>
          <p:cNvPr id="18" name="List marker"/>
          <p:cNvSpPr/>
          <p:nvPr/>
        </p:nvSpPr>
        <p:spPr>
          <a:xfrm>
            <a:off x="457200" y="356616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5661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Activity chart (SVG)</a:t>
            </a:r>
            <a:endParaRPr lang="en-US" sz="1400" dirty="0"/>
          </a:p>
        </p:txBody>
      </p:sp>
      <p:sp>
        <p:nvSpPr>
          <p:cNvPr id="21" name="List marker"/>
          <p:cNvSpPr/>
          <p:nvPr/>
        </p:nvSpPr>
        <p:spPr>
          <a:xfrm>
            <a:off x="457200" y="4041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416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Top-learners leaderboard</a:t>
            </a:r>
            <a:endParaRPr lang="en-US" sz="1400" dirty="0"/>
          </a:p>
        </p:txBody>
      </p:sp>
      <p:sp>
        <p:nvSpPr>
          <p:cNvPr id="24" name="Wireframe frame"/>
          <p:cNvSpPr/>
          <p:nvPr/>
        </p:nvSpPr>
        <p:spPr>
          <a:xfrm>
            <a:off x="484632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5" name="Wireframe block"/>
          <p:cNvSpPr/>
          <p:nvPr/>
        </p:nvSpPr>
        <p:spPr>
          <a:xfrm>
            <a:off x="5029200" y="137160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E7E4FF"/>
          </a:solidFill>
          <a:ln w="12700">
            <a:solidFill>
              <a:srgbClr val="E7E4FF"/>
            </a:solidFill>
            <a:prstDash val="solid"/>
          </a:ln>
        </p:spPr>
      </p:sp>
      <p:sp>
        <p:nvSpPr>
          <p:cNvPr id="26" name="Wireframe block"/>
          <p:cNvSpPr/>
          <p:nvPr/>
        </p:nvSpPr>
        <p:spPr>
          <a:xfrm>
            <a:off x="5029200" y="1737360"/>
            <a:ext cx="3474720" cy="685800"/>
          </a:xfrm>
          <a:prstGeom prst="roundRect">
            <a:avLst>
              <a:gd name="adj" fmla="val 6667"/>
            </a:avLst>
          </a:prstGeom>
          <a:solidFill>
            <a:srgbClr val="7867EE"/>
          </a:solidFill>
          <a:ln w="12700">
            <a:solidFill>
              <a:srgbClr val="7867EE"/>
            </a:solidFill>
            <a:prstDash val="solid"/>
          </a:ln>
        </p:spPr>
      </p:sp>
      <p:sp>
        <p:nvSpPr>
          <p:cNvPr id="27" name="Wireframe block"/>
          <p:cNvSpPr/>
          <p:nvPr/>
        </p:nvSpPr>
        <p:spPr>
          <a:xfrm>
            <a:off x="5029200" y="2514600"/>
            <a:ext cx="804672" cy="457200"/>
          </a:xfrm>
          <a:prstGeom prst="roundRect">
            <a:avLst>
              <a:gd name="adj" fmla="val 10000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28" name="Wireframe block"/>
          <p:cNvSpPr/>
          <p:nvPr/>
        </p:nvSpPr>
        <p:spPr>
          <a:xfrm>
            <a:off x="5925312" y="2514600"/>
            <a:ext cx="804672" cy="457200"/>
          </a:xfrm>
          <a:prstGeom prst="roundRect">
            <a:avLst>
              <a:gd name="adj" fmla="val 10000"/>
            </a:avLst>
          </a:prstGeom>
          <a:solidFill>
            <a:srgbClr val="E9F8F2"/>
          </a:solidFill>
          <a:ln w="12700">
            <a:solidFill>
              <a:srgbClr val="E9F8F2"/>
            </a:solidFill>
            <a:prstDash val="solid"/>
          </a:ln>
        </p:spPr>
      </p:sp>
      <p:sp>
        <p:nvSpPr>
          <p:cNvPr id="29" name="Wireframe block"/>
          <p:cNvSpPr/>
          <p:nvPr/>
        </p:nvSpPr>
        <p:spPr>
          <a:xfrm>
            <a:off x="6821424" y="2514600"/>
            <a:ext cx="804672" cy="457200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30" name="Wireframe block"/>
          <p:cNvSpPr/>
          <p:nvPr/>
        </p:nvSpPr>
        <p:spPr>
          <a:xfrm>
            <a:off x="7717536" y="2514600"/>
            <a:ext cx="786384" cy="45720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1" name="Wireframe block"/>
          <p:cNvSpPr/>
          <p:nvPr/>
        </p:nvSpPr>
        <p:spPr>
          <a:xfrm>
            <a:off x="5029200" y="30632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32" name="Wireframe block"/>
          <p:cNvSpPr/>
          <p:nvPr/>
        </p:nvSpPr>
        <p:spPr>
          <a:xfrm>
            <a:off x="5029200" y="361188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33" name="Wireframe block"/>
          <p:cNvSpPr/>
          <p:nvPr/>
        </p:nvSpPr>
        <p:spPr>
          <a:xfrm>
            <a:off x="6217920" y="361188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E9F7F1"/>
          </a:solidFill>
          <a:ln w="12700">
            <a:solidFill>
              <a:srgbClr val="E9F7F1"/>
            </a:solidFill>
            <a:prstDash val="solid"/>
          </a:ln>
        </p:spPr>
      </p:sp>
      <p:sp>
        <p:nvSpPr>
          <p:cNvPr id="34" name="Wireframe block"/>
          <p:cNvSpPr/>
          <p:nvPr/>
        </p:nvSpPr>
        <p:spPr>
          <a:xfrm>
            <a:off x="7406640" y="361188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35" name="Wireframe block"/>
          <p:cNvSpPr/>
          <p:nvPr/>
        </p:nvSpPr>
        <p:spPr>
          <a:xfrm>
            <a:off x="5029200" y="4160520"/>
            <a:ext cx="2011680" cy="182880"/>
          </a:xfrm>
          <a:prstGeom prst="roundRect">
            <a:avLst>
              <a:gd name="adj" fmla="val 25000"/>
            </a:avLst>
          </a:prstGeom>
          <a:solidFill>
            <a:srgbClr val="ECECF3"/>
          </a:solidFill>
          <a:ln w="12700">
            <a:solidFill>
              <a:srgbClr val="ECECF3"/>
            </a:solidFill>
            <a:prstDash val="solid"/>
          </a:ln>
        </p:spPr>
      </p:sp>
      <p:sp>
        <p:nvSpPr>
          <p:cNvPr id="36" name="Wireframe block"/>
          <p:cNvSpPr/>
          <p:nvPr/>
        </p:nvSpPr>
        <p:spPr>
          <a:xfrm>
            <a:off x="7132320" y="4160520"/>
            <a:ext cx="1371600" cy="182880"/>
          </a:xfrm>
          <a:prstGeom prst="roundRect">
            <a:avLst>
              <a:gd name="adj" fmla="val 25000"/>
            </a:avLst>
          </a:prstGeom>
          <a:solidFill>
            <a:srgbClr val="ECECF3"/>
          </a:solidFill>
          <a:ln w="12700">
            <a:solidFill>
              <a:srgbClr val="ECEC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0640" y="1444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3127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120640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0" y="4133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 · 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quiz engine</a:t>
            </a:r>
            <a:endParaRPr lang="en-US" sz="3000" dirty="0"/>
          </a:p>
        </p:txBody>
      </p:sp>
      <p:sp>
        <p:nvSpPr>
          <p:cNvPr id="3" name="Flow step"/>
          <p:cNvSpPr/>
          <p:nvPr/>
        </p:nvSpPr>
        <p:spPr>
          <a:xfrm>
            <a:off x="457200" y="1188720"/>
            <a:ext cx="164592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</a:t>
            </a:r>
            <a:endParaRPr lang="en-US" sz="1400" dirty="0"/>
          </a:p>
        </p:txBody>
      </p:sp>
      <p:sp>
        <p:nvSpPr>
          <p:cNvPr id="5" name="Flow step"/>
          <p:cNvSpPr/>
          <p:nvPr/>
        </p:nvSpPr>
        <p:spPr>
          <a:xfrm>
            <a:off x="2121408" y="1188720"/>
            <a:ext cx="164592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95728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Answer</a:t>
            </a:r>
            <a:endParaRPr lang="en-US" sz="1400" dirty="0"/>
          </a:p>
        </p:txBody>
      </p:sp>
      <p:sp>
        <p:nvSpPr>
          <p:cNvPr id="7" name="Flow step"/>
          <p:cNvSpPr/>
          <p:nvPr/>
        </p:nvSpPr>
        <p:spPr>
          <a:xfrm>
            <a:off x="3785616" y="1188720"/>
            <a:ext cx="164592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59936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Next</a:t>
            </a:r>
            <a:endParaRPr lang="en-US" sz="1400" dirty="0"/>
          </a:p>
        </p:txBody>
      </p:sp>
      <p:sp>
        <p:nvSpPr>
          <p:cNvPr id="9" name="Flow step"/>
          <p:cNvSpPr/>
          <p:nvPr/>
        </p:nvSpPr>
        <p:spPr>
          <a:xfrm>
            <a:off x="5449824" y="1188720"/>
            <a:ext cx="1645920" cy="64008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24144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Finish</a:t>
            </a:r>
            <a:endParaRPr lang="en-US" sz="1400" dirty="0"/>
          </a:p>
        </p:txBody>
      </p:sp>
      <p:sp>
        <p:nvSpPr>
          <p:cNvPr id="11" name="Flow step"/>
          <p:cNvSpPr/>
          <p:nvPr/>
        </p:nvSpPr>
        <p:spPr>
          <a:xfrm>
            <a:off x="7114032" y="1188720"/>
            <a:ext cx="1645920" cy="64008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88352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Results</a:t>
            </a:r>
            <a:endParaRPr lang="en-US" sz="1400" dirty="0"/>
          </a:p>
        </p:txBody>
      </p:sp>
      <p:sp>
        <p:nvSpPr>
          <p:cNvPr id="13" name="Fact card"/>
          <p:cNvSpPr/>
          <p:nvPr/>
        </p:nvSpPr>
        <p:spPr>
          <a:xfrm>
            <a:off x="457200" y="2194560"/>
            <a:ext cx="1892808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" y="228600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s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88036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Fixed countdown timer per quiz</a:t>
            </a:r>
            <a:endParaRPr lang="en-US" sz="1200" dirty="0"/>
          </a:p>
        </p:txBody>
      </p:sp>
      <p:sp>
        <p:nvSpPr>
          <p:cNvPr id="16" name="Fact card"/>
          <p:cNvSpPr/>
          <p:nvPr/>
        </p:nvSpPr>
        <p:spPr>
          <a:xfrm>
            <a:off x="2532888" y="2194560"/>
            <a:ext cx="1892808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532888" y="228600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20×+10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288036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XP = 20 per correct answer + 10</a:t>
            </a:r>
            <a:endParaRPr lang="en-US" sz="1200" dirty="0"/>
          </a:p>
        </p:txBody>
      </p:sp>
      <p:sp>
        <p:nvSpPr>
          <p:cNvPr id="19" name="Fact card"/>
          <p:cNvSpPr/>
          <p:nvPr/>
        </p:nvSpPr>
        <p:spPr>
          <a:xfrm>
            <a:off x="4608576" y="2194560"/>
            <a:ext cx="1892808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08576" y="228600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745736" y="288036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Questions per quiz set</a:t>
            </a:r>
            <a:endParaRPr lang="en-US" sz="1200" dirty="0"/>
          </a:p>
        </p:txBody>
      </p:sp>
      <p:sp>
        <p:nvSpPr>
          <p:cNvPr id="22" name="Fact card"/>
          <p:cNvSpPr/>
          <p:nvPr/>
        </p:nvSpPr>
        <p:spPr>
          <a:xfrm>
            <a:off x="6684264" y="2194560"/>
            <a:ext cx="1892808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684264" y="228600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821424" y="2880360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Completed count saved locally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670"/>
                </a:solidFill>
              </a:rPr>
              <a:t>Results modal shows score %, correct count, XP and time taken, with a one-click retry. Daily challenge and each topic quiz share the same engine.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3000" dirty="0"/>
          </a:p>
        </p:txBody>
      </p:sp>
      <p:sp>
        <p:nvSpPr>
          <p:cNvPr id="3" name="Swatch"/>
          <p:cNvSpPr/>
          <p:nvPr/>
        </p:nvSpPr>
        <p:spPr>
          <a:xfrm>
            <a:off x="457200" y="11887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20213A"/>
          </a:solidFill>
          <a:ln w="9525">
            <a:solidFill>
              <a:srgbClr val="ECEC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176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957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0A4"/>
                </a:solidFill>
              </a:rPr>
              <a:t>#20213A</a:t>
            </a:r>
            <a:endParaRPr lang="en-US" sz="1100" dirty="0"/>
          </a:p>
        </p:txBody>
      </p:sp>
      <p:sp>
        <p:nvSpPr>
          <p:cNvPr id="6" name="Swatch"/>
          <p:cNvSpPr/>
          <p:nvPr/>
        </p:nvSpPr>
        <p:spPr>
          <a:xfrm>
            <a:off x="1828800" y="11887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7867EE"/>
          </a:solidFill>
          <a:ln w="9525">
            <a:solidFill>
              <a:srgbClr val="ECEC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2176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Purple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3957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0A4"/>
                </a:solidFill>
              </a:rPr>
              <a:t>#7867EE</a:t>
            </a:r>
            <a:endParaRPr lang="en-US" sz="1100" dirty="0"/>
          </a:p>
        </p:txBody>
      </p:sp>
      <p:sp>
        <p:nvSpPr>
          <p:cNvPr id="9" name="Swatch"/>
          <p:cNvSpPr/>
          <p:nvPr/>
        </p:nvSpPr>
        <p:spPr>
          <a:xfrm>
            <a:off x="3200400" y="11887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0EDFF"/>
          </a:solidFill>
          <a:ln w="9525">
            <a:solidFill>
              <a:srgbClr val="ECEC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2176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Lilac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3957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0A4"/>
                </a:solidFill>
              </a:rPr>
              <a:t>#F0EDFF</a:t>
            </a:r>
            <a:endParaRPr lang="en-US" sz="1100" dirty="0"/>
          </a:p>
        </p:txBody>
      </p:sp>
      <p:sp>
        <p:nvSpPr>
          <p:cNvPr id="12" name="Swatch"/>
          <p:cNvSpPr/>
          <p:nvPr/>
        </p:nvSpPr>
        <p:spPr>
          <a:xfrm>
            <a:off x="4572000" y="11887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FD675"/>
          </a:solidFill>
          <a:ln w="9525">
            <a:solidFill>
              <a:srgbClr val="ECEC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176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Amber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3957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0A4"/>
                </a:solidFill>
              </a:rPr>
              <a:t>#FFD675</a:t>
            </a:r>
            <a:endParaRPr lang="en-US" sz="1100" dirty="0"/>
          </a:p>
        </p:txBody>
      </p:sp>
      <p:sp>
        <p:nvSpPr>
          <p:cNvPr id="15" name="Swatch"/>
          <p:cNvSpPr/>
          <p:nvPr/>
        </p:nvSpPr>
        <p:spPr>
          <a:xfrm>
            <a:off x="5943600" y="11887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55B7A3"/>
          </a:solidFill>
          <a:ln w="9525">
            <a:solidFill>
              <a:srgbClr val="ECEC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2176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Mint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3957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0A4"/>
                </a:solidFill>
              </a:rPr>
              <a:t>#55B7A3</a:t>
            </a:r>
            <a:endParaRPr lang="en-US" sz="1100" dirty="0"/>
          </a:p>
        </p:txBody>
      </p:sp>
      <p:sp>
        <p:nvSpPr>
          <p:cNvPr id="18" name="Swatch"/>
          <p:cNvSpPr/>
          <p:nvPr/>
        </p:nvSpPr>
        <p:spPr>
          <a:xfrm>
            <a:off x="7315200" y="11887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E47E9E"/>
          </a:solidFill>
          <a:ln w="9525">
            <a:solidFill>
              <a:srgbClr val="ECEC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2176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Rose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3957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0A4"/>
                </a:solidFill>
              </a:rPr>
              <a:t>#E47E9E</a:t>
            </a:r>
            <a:endParaRPr lang="en-US" sz="1100" dirty="0"/>
          </a:p>
        </p:txBody>
      </p:sp>
      <p:sp>
        <p:nvSpPr>
          <p:cNvPr id="21" name="Type card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Typography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Manrope — display and headings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670"/>
                </a:solidFill>
              </a:rPr>
              <a:t>DM Sans — body and interface text. Body sizes run 8–14 px, very small.</a:t>
            </a:r>
            <a:endParaRPr lang="en-US" sz="1300" dirty="0"/>
          </a:p>
        </p:txBody>
      </p:sp>
      <p:sp>
        <p:nvSpPr>
          <p:cNvPr id="25" name="Style card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9204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Visual language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670"/>
                </a:solidFill>
              </a:rPr>
              <a:t>Rounded 8–15 px corners, soft shadows, lilac tints and a dark indigo sidebar. Breakpoints at 1150, 850 and 600 px.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Declared vs. available questions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6126480" y="114300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12648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 the promised questions exist (18 of 67)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670"/>
                </a:solidFill>
              </a:rPr>
              <a:t>Cards advertise 8–15 questions and 10–18 minutes, but every quiz plays just 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well</a:t>
            </a:r>
            <a:endParaRPr lang="en-US" sz="3000" dirty="0"/>
          </a:p>
        </p:txBody>
      </p:sp>
      <p:sp>
        <p:nvSpPr>
          <p:cNvPr id="3" name="Strength card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4" name="Check marker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dependencies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019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Loads instantly and deploys anywhere as static files</a:t>
            </a:r>
            <a:endParaRPr lang="en-US" sz="1200" dirty="0"/>
          </a:p>
        </p:txBody>
      </p:sp>
      <p:sp>
        <p:nvSpPr>
          <p:cNvPr id="8" name="Strength card"/>
          <p:cNvSpPr/>
          <p:nvPr/>
        </p:nvSpPr>
        <p:spPr>
          <a:xfrm>
            <a:off x="324612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9" name="Check marker"/>
          <p:cNvSpPr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Cohesive UI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019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Consistent tokens, cards and tints across all views</a:t>
            </a:r>
            <a:endParaRPr lang="en-US" sz="1200" dirty="0"/>
          </a:p>
        </p:txBody>
      </p:sp>
      <p:sp>
        <p:nvSpPr>
          <p:cNvPr id="13" name="Strength card"/>
          <p:cNvSpPr/>
          <p:nvPr/>
        </p:nvSpPr>
        <p:spPr>
          <a:xfrm>
            <a:off x="6035040" y="118872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4" name="Check marker"/>
          <p:cNvSpPr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019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Sidebar collapses to icons, then to a drawer on phones</a:t>
            </a:r>
            <a:endParaRPr lang="en-US" sz="1200" dirty="0"/>
          </a:p>
        </p:txBody>
      </p:sp>
      <p:sp>
        <p:nvSpPr>
          <p:cNvPr id="18" name="Strength card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9" name="Check marker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rendering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935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escapeHTML is applied to user-visible strings</a:t>
            </a:r>
            <a:endParaRPr lang="en-US" sz="1200" dirty="0"/>
          </a:p>
        </p:txBody>
      </p:sp>
      <p:sp>
        <p:nvSpPr>
          <p:cNvPr id="23" name="Strength card"/>
          <p:cNvSpPr/>
          <p:nvPr/>
        </p:nvSpPr>
        <p:spPr>
          <a:xfrm>
            <a:off x="324612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4" name="Check marker"/>
          <p:cNvSpPr/>
          <p:nvPr/>
        </p:nvSpPr>
        <p:spPr>
          <a:xfrm>
            <a:off x="3429000" y="30632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events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5935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One delegated listener keeps handlers simple</a:t>
            </a:r>
            <a:endParaRPr lang="en-US" sz="1200" dirty="0"/>
          </a:p>
        </p:txBody>
      </p:sp>
      <p:sp>
        <p:nvSpPr>
          <p:cNvPr id="28" name="Strength card"/>
          <p:cNvSpPr/>
          <p:nvPr/>
        </p:nvSpPr>
        <p:spPr>
          <a:xfrm>
            <a:off x="603504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9" name="Check marker"/>
          <p:cNvSpPr/>
          <p:nvPr/>
        </p:nvSpPr>
        <p:spPr>
          <a:xfrm>
            <a:off x="6217920" y="30632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Polished touches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5935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Bookmarks, toasts, Cmd/Ctrl+K search, reduced-motion support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counts misleading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say 8–15 questions; only 3 exist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answer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correct/wrong reveal or explanations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Hardcoded date and streak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says Tuesday, today is Wednesday; streak dots mark Saturday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count resets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shows 24 on reload; saved value is only read in My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text, glyph icons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 px type and Unicode symbols hurt readability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modal focus trap; search ignores most 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4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C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Timeline"/>
          <p:cNvSpPr/>
          <p:nvPr/>
        </p:nvSpPr>
        <p:spPr>
          <a:xfrm>
            <a:off x="914400" y="1600200"/>
            <a:ext cx="7315200" cy="0"/>
          </a:xfrm>
          <a:prstGeom prst="line">
            <a:avLst/>
          </a:prstGeom>
          <a:noFill/>
          <a:ln w="25400">
            <a:solidFill>
              <a:srgbClr val="CFCBFF"/>
            </a:solidFill>
            <a:prstDash val="solid"/>
          </a:ln>
        </p:spPr>
      </p:sp>
      <p:sp>
        <p:nvSpPr>
          <p:cNvPr id="4" name="Phase marker"/>
          <p:cNvSpPr/>
          <p:nvPr/>
        </p:nvSpPr>
        <p:spPr>
          <a:xfrm>
            <a:off x="114300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hase card"/>
          <p:cNvSpPr/>
          <p:nvPr/>
        </p:nvSpPr>
        <p:spPr>
          <a:xfrm>
            <a:off x="457200" y="2057400"/>
            <a:ext cx="1892808" cy="2331720"/>
          </a:xfrm>
          <a:prstGeom prst="roundRect">
            <a:avLst>
              <a:gd name="adj" fmla="val 483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NOW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Fix content gaps, dynamic dates, restore saved stats</a:t>
            </a:r>
            <a:endParaRPr lang="en-US" sz="1200" dirty="0"/>
          </a:p>
        </p:txBody>
      </p:sp>
      <p:sp>
        <p:nvSpPr>
          <p:cNvPr id="10" name="Phase marker"/>
          <p:cNvSpPr/>
          <p:nvPr/>
        </p:nvSpPr>
        <p:spPr>
          <a:xfrm>
            <a:off x="3218688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1868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Phase card"/>
          <p:cNvSpPr/>
          <p:nvPr/>
        </p:nvSpPr>
        <p:spPr>
          <a:xfrm>
            <a:off x="2532888" y="2057400"/>
            <a:ext cx="1892808" cy="2331720"/>
          </a:xfrm>
          <a:prstGeom prst="roundRect">
            <a:avLst>
              <a:gd name="adj" fmla="val 483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70048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engine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70048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Answer feedback, back/forward navigation, attempt history</a:t>
            </a:r>
            <a:endParaRPr lang="en-US" sz="1200" dirty="0"/>
          </a:p>
        </p:txBody>
      </p:sp>
      <p:sp>
        <p:nvSpPr>
          <p:cNvPr id="16" name="Phase marker"/>
          <p:cNvSpPr/>
          <p:nvPr/>
        </p:nvSpPr>
        <p:spPr>
          <a:xfrm>
            <a:off x="5294376" y="13716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9437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Phase card"/>
          <p:cNvSpPr/>
          <p:nvPr/>
        </p:nvSpPr>
        <p:spPr>
          <a:xfrm>
            <a:off x="4608576" y="2057400"/>
            <a:ext cx="1892808" cy="2331720"/>
          </a:xfrm>
          <a:prstGeom prst="roundRect">
            <a:avLst>
              <a:gd name="adj" fmla="val 483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745736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LATER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45736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&amp; improve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45736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Explanations, topic analytics, revision of missed questions</a:t>
            </a:r>
            <a:endParaRPr lang="en-US" sz="1200" dirty="0"/>
          </a:p>
        </p:txBody>
      </p:sp>
      <p:sp>
        <p:nvSpPr>
          <p:cNvPr id="22" name="Phase marker"/>
          <p:cNvSpPr/>
          <p:nvPr/>
        </p:nvSpPr>
        <p:spPr>
          <a:xfrm>
            <a:off x="7370064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7006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Phase card"/>
          <p:cNvSpPr/>
          <p:nvPr/>
        </p:nvSpPr>
        <p:spPr>
          <a:xfrm>
            <a:off x="6684264" y="2057400"/>
            <a:ext cx="1892808" cy="2331720"/>
          </a:xfrm>
          <a:prstGeom prst="roundRect">
            <a:avLst>
              <a:gd name="adj" fmla="val 4831"/>
            </a:avLst>
          </a:prstGeom>
          <a:solidFill>
            <a:schemeClr val="bg1"/>
          </a:solidFill>
          <a:ln w="9525">
            <a:solidFill>
              <a:srgbClr val="ECECF3"/>
            </a:solidFill>
            <a:prstDash val="solid"/>
          </a:ln>
          <a:effectLst>
            <a:outerShdw sx="100000" sy="100000" kx="0" ky="0" algn="bl" rotWithShape="0" blurRad="101600" dist="25400" dir="5400000">
              <a:srgbClr val="20213A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21424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LATER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21424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live play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21424" y="29260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70"/>
                </a:solidFill>
              </a:rPr>
              <a:t>Real AI practice sets, live rooms, backend and accounts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0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3000" dirty="0"/>
          </a:p>
        </p:txBody>
      </p:sp>
      <p:sp>
        <p:nvSpPr>
          <p:cNvPr id="3" name="Step marker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70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Add the missing questions, or make cards read their counts from questionSets</a:t>
            </a:r>
            <a:endParaRPr lang="en-US" sz="1500" dirty="0"/>
          </a:p>
        </p:txBody>
      </p:sp>
      <p:sp>
        <p:nvSpPr>
          <p:cNvPr id="6" name="Step marker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10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Show correct and wrong answers with a short explanation after each pick</a:t>
            </a:r>
            <a:endParaRPr lang="en-US" sz="1500" dirty="0"/>
          </a:p>
        </p:txBody>
      </p:sp>
      <p:sp>
        <p:nvSpPr>
          <p:cNvPr id="9" name="Step marker"/>
          <p:cNvSpPr/>
          <p:nvPr/>
        </p:nvSpPr>
        <p:spPr>
          <a:xfrm>
            <a:off x="457200" y="2468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Compute the date and streak from real data, and restore saved stats on load</a:t>
            </a:r>
            <a:endParaRPr lang="en-US" sz="1500" dirty="0"/>
          </a:p>
        </p:txBody>
      </p:sp>
      <p:sp>
        <p:nvSpPr>
          <p:cNvPr id="12" name="Step marker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90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Raise the minimum text size and swap glyphs for an icon set</a:t>
            </a:r>
            <a:endParaRPr lang="en-US" sz="1500" dirty="0"/>
          </a:p>
        </p:txBody>
      </p:sp>
      <p:sp>
        <p:nvSpPr>
          <p:cNvPr id="15" name="Step marker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307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Introduce a backend for accounts, attempts and the live leaderboard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The foundation is strong — the next gains come from content depth and real data.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zora">
  <a:themeElements>
    <a:clrScheme name="Quizora">
      <a:dk1>
        <a:srgbClr val="20213A"/>
      </a:dk1>
      <a:lt1>
        <a:srgbClr val="FFFFFF"/>
      </a:lt1>
      <a:dk2>
        <a:srgbClr val="4A4670"/>
      </a:dk2>
      <a:lt2>
        <a:srgbClr val="F4F2FF"/>
      </a:lt2>
      <a:accent1>
        <a:srgbClr val="7867EE"/>
      </a:accent1>
      <a:accent2>
        <a:srgbClr val="FFD675"/>
      </a:accent2>
      <a:accent3>
        <a:srgbClr val="55B7A3"/>
      </a:accent3>
      <a:accent4>
        <a:srgbClr val="E47E9E"/>
      </a:accent4>
      <a:accent5>
        <a:srgbClr val="5A93CC"/>
      </a:accent5>
      <a:accent6>
        <a:srgbClr val="E7A871"/>
      </a:accent6>
      <a:hlink>
        <a:srgbClr val="7867EE"/>
      </a:hlink>
      <a:folHlink>
        <a:srgbClr val="4A4670"/>
      </a:folHlink>
    </a:clrScheme>
    <a:fontScheme name="Quizo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Quizora — Project Analysis</dc:title>
  <dc:subject>PptxGenJS Presentation</dc:subject>
  <dc:creator>PptxGenJS</dc:creator>
  <cp:lastModifiedBy>PptxGenJS</cp:lastModifiedBy>
  <cp:revision>1</cp:revision>
  <dcterms:created xsi:type="dcterms:W3CDTF">2026-10-28T15:23:15Z</dcterms:created>
  <dcterms:modified xsi:type="dcterms:W3CDTF">2026-10-28T15:23:15Z</dcterms:modified>
</cp:coreProperties>
</file>